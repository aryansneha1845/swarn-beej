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F3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0F3D24"/>
                </a:solidFill>
                <a:latin typeface="Nirmala UI"/>
              </a:defRPr>
            </a:pPr>
            <a:r>
              <a:t>🌾 स्वर्ण-बीज (SWARN-BEEJ)</a:t>
            </a:r>
          </a:p>
          <a:p>
            <a:pPr>
              <a:defRPr sz="2800">
                <a:solidFill>
                  <a:srgbClr val="1D1C16"/>
                </a:solidFill>
                <a:latin typeface="Nirmala UI"/>
              </a:defRPr>
            </a:pPr>
            <a:r>
              <a:t>नकली बीज/कीटनाशक पकड़ो — स्कैन, बिल, शिकायत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840480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1D1C16"/>
                </a:solidFill>
                <a:latin typeface="Nirmala UI"/>
              </a:defRPr>
            </a:pPr>
            <a:r>
              <a:t>•  SEVA FIRST RYIC 2026 • Local Track REG-001 (ग्राम/पंचायत, कृषि)</a:t>
            </a:r>
          </a:p>
          <a:p>
            <a:pPr>
              <a:defRPr sz="2200">
                <a:solidFill>
                  <a:srgbClr val="1D1C16"/>
                </a:solidFill>
                <a:latin typeface="Nirmala UI"/>
              </a:defRPr>
            </a:pPr>
            <a:r>
              <a:t>•  Category-II: Diploma &amp; Higher Education • Solo + Mentor</a:t>
            </a:r>
          </a:p>
          <a:p>
            <a:pPr>
              <a:defRPr sz="2200">
                <a:solidFill>
                  <a:srgbClr val="1D1C16"/>
                </a:solidFill>
                <a:latin typeface="Nirmala UI"/>
              </a:defRPr>
            </a:pPr>
            <a:r>
              <a:t>•  TRL 2 → 6 • लागत &lt; ₹2,000 • हिंदी PWA, ऑफ़लाइन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F3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3D24"/>
                </a:solidFill>
                <a:latin typeface="Nirmala UI"/>
              </a:defRPr>
            </a:pPr>
            <a:r>
              <a:t>1. समस्या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D1C16"/>
                </a:solidFill>
                <a:latin typeface="Nirmala UI"/>
              </a:defRPr>
            </a:pPr>
            <a:r>
              <a:t>•  पंजाब-हरियाणा के छोटे किसान नकली बीज/कीटनाशक ले लेते हैं — पैक असली लगता है, QR नकली, बिल नहीं मिलता।</a:t>
            </a:r>
          </a:p>
          <a:p>
            <a:pPr>
              <a:spcAft>
                <a:spcPts val="1000"/>
              </a:spcAft>
              <a:defRPr sz="2200">
                <a:solidFill>
                  <a:srgbClr val="1D1C16"/>
                </a:solidFill>
                <a:latin typeface="Nirmala UI"/>
              </a:defRPr>
            </a:pPr>
            <a:r>
              <a:t>•  फसल 40–90% तक खराब (सीरसा ग्वार केस 2012, NCR फ़रीदाबाद केस)।</a:t>
            </a:r>
          </a:p>
          <a:p>
            <a:pPr>
              <a:spcAft>
                <a:spcPts val="1000"/>
              </a:spcAft>
              <a:defRPr sz="2200">
                <a:solidFill>
                  <a:srgbClr val="1D1C16"/>
                </a:solidFill>
                <a:latin typeface="Nirmala UI"/>
              </a:defRPr>
            </a:pPr>
            <a:r>
              <a:t>•  बिल न होने से मुआवज़ा भी नहीं मिलता — दोहरी मार।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217920"/>
            <a:ext cx="10881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14942"/>
                </a:solidFill>
                <a:latin typeface="Nirmala UI"/>
              </a:defRPr>
            </a:pPr>
            <a:r>
              <a:t>SWARN-BEEJ • SEVA FIRST RYIC 2026 • Local REG-001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F3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3D24"/>
                </a:solidFill>
                <a:latin typeface="Nirmala UI"/>
              </a:defRPr>
            </a:pPr>
            <a:r>
              <a:t>2. कहाँ देखा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D1C16"/>
                </a:solidFill>
                <a:latin typeface="Nirmala UI"/>
              </a:defRPr>
            </a:pPr>
            <a:r>
              <a:t>•  कॉलेज के पास 2–3 कृषि दुकानें + 1 गाँव (दिल्ली-NCR किनारा / सिरसा लिंक)।</a:t>
            </a:r>
          </a:p>
          <a:p>
            <a:pPr>
              <a:spcAft>
                <a:spcPts val="1000"/>
              </a:spcAft>
              <a:defRPr sz="2200">
                <a:solidFill>
                  <a:srgbClr val="1D1C16"/>
                </a:solidFill>
                <a:latin typeface="Nirmala UI"/>
              </a:defRPr>
            </a:pPr>
            <a:r>
              <a:t>•  [फोटो लगाएँ: दुकान बोर्ड + पैकेट शेल्फ]</a:t>
            </a:r>
          </a:p>
          <a:p>
            <a:pPr>
              <a:spcAft>
                <a:spcPts val="1000"/>
              </a:spcAft>
              <a:defRPr sz="2200">
                <a:solidFill>
                  <a:srgbClr val="1D1C16"/>
                </a:solidFill>
                <a:latin typeface="Nirmala UI"/>
              </a:defRPr>
            </a:pPr>
            <a:r>
              <a:t>•  क्षेत्र: उत्तरी क्षेत्र (DTU) — दिल्ली, हरियाणा, पंजाब।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217920"/>
            <a:ext cx="10881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14942"/>
                </a:solidFill>
                <a:latin typeface="Nirmala UI"/>
              </a:defRPr>
            </a:pPr>
            <a:r>
              <a:t>SWARN-BEEJ • SEVA FIRST RYIC 2026 • Local REG-001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F3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3D24"/>
                </a:solidFill>
                <a:latin typeface="Nirmala UI"/>
              </a:defRPr>
            </a:pPr>
            <a:r>
              <a:t>3. साक्ष्य (Evidence)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D1C16"/>
                </a:solidFill>
                <a:latin typeface="Nirmala UI"/>
              </a:defRPr>
            </a:pPr>
            <a:r>
              <a:t>•  [फोटो लगाएँ: 15 पैकेट front-back + batch/expiry close-up]</a:t>
            </a:r>
          </a:p>
          <a:p>
            <a:pPr>
              <a:spcAft>
                <a:spcPts val="1000"/>
              </a:spcAft>
              <a:defRPr sz="2200">
                <a:solidFill>
                  <a:srgbClr val="1D1C16"/>
                </a:solidFill>
                <a:latin typeface="Nirmala UI"/>
              </a:defRPr>
            </a:pPr>
            <a:r>
              <a:t>•  [फोटो लगाएँ: 5 बिल + दुकान बोर्ड]</a:t>
            </a:r>
          </a:p>
          <a:p>
            <a:pPr>
              <a:spcAft>
                <a:spcPts val="1000"/>
              </a:spcAft>
              <a:defRPr sz="2200">
                <a:solidFill>
                  <a:srgbClr val="1D1C16"/>
                </a:solidFill>
                <a:latin typeface="Nirmala UI"/>
              </a:defRPr>
            </a:pPr>
            <a:r>
              <a:t>•  हर फोटो: तारीख + दुकान नाम से फ़ाइल नाम (field-evidence/ देखें)।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217920"/>
            <a:ext cx="10881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14942"/>
                </a:solidFill>
                <a:latin typeface="Nirmala UI"/>
              </a:defRPr>
            </a:pPr>
            <a:r>
              <a:t>SWARN-BEEJ • SEVA FIRST RYIC 2026 • Local REG-001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F3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3D24"/>
                </a:solidFill>
                <a:latin typeface="Nirmala UI"/>
              </a:defRPr>
            </a:pPr>
            <a:r>
              <a:t>4. कौन प्रभावित, कितने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D1C16"/>
                </a:solidFill>
                <a:latin typeface="Nirmala UI"/>
              </a:defRPr>
            </a:pPr>
            <a:r>
              <a:t>•  1 दुकान ≈ 200 किसान/सीज़न; ज़िले में हज़ारों।</a:t>
            </a:r>
          </a:p>
          <a:p>
            <a:pPr>
              <a:spcAft>
                <a:spcPts val="1000"/>
              </a:spcAft>
              <a:defRPr sz="2200">
                <a:solidFill>
                  <a:srgbClr val="1D1C16"/>
                </a:solidFill>
                <a:latin typeface="Nirmala UI"/>
              </a:defRPr>
            </a:pPr>
            <a:r>
              <a:t>•  PIB 11-Feb-2025 (2023-24): 1,33,588 बीज नमूनों में 3,630 घटिया; 1,81,153 उर्वरक में 8,988 अमानक; 80,789 कीटनाशक में 2,222 नकली।</a:t>
            </a:r>
          </a:p>
          <a:p>
            <a:pPr>
              <a:spcAft>
                <a:spcPts val="1000"/>
              </a:spcAft>
              <a:defRPr sz="2200">
                <a:solidFill>
                  <a:srgbClr val="1D1C16"/>
                </a:solidFill>
                <a:latin typeface="Nirmala UI"/>
              </a:defRPr>
            </a:pPr>
            <a:r>
              <a:t>•  बठिंडा (अग-2024) व हरियाणा (जन-2026) में नकली स्टॉक ज़ब्त — खबर कटिंग संलग्न करें।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217920"/>
            <a:ext cx="10881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14942"/>
                </a:solidFill>
                <a:latin typeface="Nirmala UI"/>
              </a:defRPr>
            </a:pPr>
            <a:r>
              <a:t>SWARN-BEEJ • SEVA FIRST RYIC 2026 • Local REG-001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F3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3D24"/>
                </a:solidFill>
                <a:latin typeface="Nirmala UI"/>
              </a:defRPr>
            </a:pPr>
            <a:r>
              <a:t>5. किसान से बातचीत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D1C16"/>
                </a:solidFill>
                <a:latin typeface="Nirmala UI"/>
              </a:defRPr>
            </a:pPr>
            <a:r>
              <a:t>•  10 किसान, 2-मिनट बात: 90% बिल नहीं लेते, QR जाँचना नहीं आता।</a:t>
            </a:r>
          </a:p>
          <a:p>
            <a:pPr>
              <a:spcAft>
                <a:spcPts val="1000"/>
              </a:spcAft>
              <a:defRPr sz="2200">
                <a:solidFill>
                  <a:srgbClr val="1D1C16"/>
                </a:solidFill>
                <a:latin typeface="Nirmala UI"/>
              </a:defRPr>
            </a:pPr>
            <a:r>
              <a:t>•  [वीडियो/ऑडियो लगाएँ: नाम + गाँव + कब नुकसान — सहमति पत्र के साथ]</a:t>
            </a:r>
          </a:p>
          <a:p>
            <a:pPr>
              <a:spcAft>
                <a:spcPts val="1000"/>
              </a:spcAft>
              <a:defRPr sz="2200">
                <a:solidFill>
                  <a:srgbClr val="1D1C16"/>
                </a:solidFill>
                <a:latin typeface="Nirmala UI"/>
              </a:defRPr>
            </a:pPr>
            <a:r>
              <a:t>•  सीख: ऐप हिंदी + ऑफ़लाइन + 3 बटन से ज़्यादा नहीं।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217920"/>
            <a:ext cx="10881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14942"/>
                </a:solidFill>
                <a:latin typeface="Nirmala UI"/>
              </a:defRPr>
            </a:pPr>
            <a:r>
              <a:t>SWARN-BEEJ • SEVA FIRST RYIC 2026 • Local REG-001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F3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3D24"/>
                </a:solidFill>
                <a:latin typeface="Nirmala UI"/>
              </a:defRPr>
            </a:pPr>
            <a:r>
              <a:t>6. मौजूदा व्यवस्था + कमी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D1C16"/>
                </a:solidFill>
                <a:latin typeface="Nirmala UI"/>
              </a:defRPr>
            </a:pPr>
            <a:r>
              <a:t>•  SATHI पोर्टल (सरकारी) है — पर B2B/अंग्रेज़ी, किसान के फोन पर ऑफ़लाइन हिंदी में नहीं चलता।</a:t>
            </a:r>
          </a:p>
          <a:p>
            <a:pPr>
              <a:spcAft>
                <a:spcPts val="1000"/>
              </a:spcAft>
              <a:defRPr sz="2200">
                <a:solidFill>
                  <a:srgbClr val="1D1C16"/>
                </a:solidFill>
                <a:latin typeface="Nirmala UI"/>
              </a:defRPr>
            </a:pPr>
            <a:r>
              <a:t>•  डीलर सूची बंद; QR वेरिफिकेशन किसान तक नहीं पहुँचता।</a:t>
            </a:r>
          </a:p>
          <a:p>
            <a:pPr>
              <a:spcAft>
                <a:spcPts val="1000"/>
              </a:spcAft>
              <a:defRPr sz="2200">
                <a:solidFill>
                  <a:srgbClr val="1D1C16"/>
                </a:solidFill>
                <a:latin typeface="Nirmala UI"/>
              </a:defRPr>
            </a:pPr>
            <a:r>
              <a:t>•  [स्क्रीनशॉट लगाएँ: SATHI बनाम SWARN-BEEJ side-by-side]।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217920"/>
            <a:ext cx="10881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14942"/>
                </a:solidFill>
                <a:latin typeface="Nirmala UI"/>
              </a:defRPr>
            </a:pPr>
            <a:r>
              <a:t>SWARN-BEEJ • SEVA FIRST RYIC 2026 • Local REG-001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F3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3D24"/>
                </a:solidFill>
                <a:latin typeface="Nirmala UI"/>
              </a:defRPr>
            </a:pPr>
            <a:r>
              <a:t>7. समाधान — 3 काम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D1C16"/>
                </a:solidFill>
                <a:latin typeface="Nirmala UI"/>
              </a:defRPr>
            </a:pPr>
            <a:r>
              <a:t>•  1. स्कैन और सच: ब्रांड+बैच+QR → हरा/पीला/लाल + भरोसा% + हिंदी कारण + आवाज़।</a:t>
            </a:r>
          </a:p>
          <a:p>
            <a:pPr>
              <a:spcAft>
                <a:spcPts val="1000"/>
              </a:spcAft>
              <a:defRPr sz="2200">
                <a:solidFill>
                  <a:srgbClr val="1D1C16"/>
                </a:solidFill>
                <a:latin typeface="Nirmala UI"/>
              </a:defRPr>
            </a:pPr>
            <a:r>
              <a:t>•  2. बिल सुरक्षा: बिल फोटो + दुकान + तारीख सेव — शिकायत का सबूत।</a:t>
            </a:r>
          </a:p>
          <a:p>
            <a:pPr>
              <a:spcAft>
                <a:spcPts val="1000"/>
              </a:spcAft>
              <a:defRPr sz="2200">
                <a:solidFill>
                  <a:srgbClr val="1D1C16"/>
                </a:solidFill>
                <a:latin typeface="Nirmala UI"/>
              </a:defRPr>
            </a:pPr>
            <a:r>
              <a:t>•  3. शिकायत ड्राफ्ट: 1-टैप हिंदी अर्जी — कॉपी/WhatsApp/PDF, हेल्पलाइन 14447।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217920"/>
            <a:ext cx="10881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14942"/>
                </a:solidFill>
                <a:latin typeface="Nirmala UI"/>
              </a:defRPr>
            </a:pPr>
            <a:r>
              <a:t>SWARN-BEEJ • SEVA FIRST RYIC 2026 • Local REG-001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F3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3D24"/>
                </a:solidFill>
                <a:latin typeface="Nirmala UI"/>
              </a:defRPr>
            </a:pPr>
            <a:r>
              <a:t>8. नया क्या है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D1C16"/>
                </a:solidFill>
                <a:latin typeface="Nirmala UI"/>
              </a:defRPr>
            </a:pPr>
            <a:r>
              <a:t>•  नकली QR पकड़: एक ही QR दो पैकेटों पर → reused चेतावनी (फोटोकॉपी वाला छेद बंद)।</a:t>
            </a:r>
          </a:p>
          <a:p>
            <a:pPr>
              <a:spcAft>
                <a:spcPts val="1000"/>
              </a:spcAft>
              <a:defRPr sz="2200">
                <a:solidFill>
                  <a:srgbClr val="1D1C16"/>
                </a:solidFill>
                <a:latin typeface="Nirmala UI"/>
              </a:defRPr>
            </a:pPr>
            <a:r>
              <a:t>•  बिल को सबूत-शृंखला बनाना (बिना बिल मुआवज़ा नहीं — सीरसा केस 5 साल लटका)।</a:t>
            </a:r>
          </a:p>
          <a:p>
            <a:pPr>
              <a:spcAft>
                <a:spcPts val="1000"/>
              </a:spcAft>
              <a:defRPr sz="2200">
                <a:solidFill>
                  <a:srgbClr val="1D1C16"/>
                </a:solidFill>
                <a:latin typeface="Nirmala UI"/>
              </a:defRPr>
            </a:pPr>
            <a:r>
              <a:t>•  SATHI का last-mile: हिंदी आवाज़ + ऑफ़लाइन + safe-default (अज्ञात = पीला, कभी झूठा हरा नहीं)।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217920"/>
            <a:ext cx="10881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14942"/>
                </a:solidFill>
                <a:latin typeface="Nirmala UI"/>
              </a:defRPr>
            </a:pPr>
            <a:r>
              <a:t>SWARN-BEEJ • SEVA FIRST RYIC 2026 • Local REG-001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F3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3D24"/>
                </a:solidFill>
                <a:latin typeface="Nirmala UI"/>
              </a:defRPr>
            </a:pPr>
            <a:r>
              <a:t>9. प्रवाह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D1C16"/>
                </a:solidFill>
                <a:latin typeface="Nirmala UI"/>
              </a:defRPr>
            </a:pPr>
            <a:r>
              <a:t>•  स्कैन → संकेत (हरा/पीला/लाल) → बिल सेव → शिकायत ड्राफ्ट → अधिकारी।</a:t>
            </a:r>
          </a:p>
          <a:p>
            <a:pPr>
              <a:spcAft>
                <a:spcPts val="1000"/>
              </a:spcAft>
              <a:defRPr sz="2200">
                <a:solidFill>
                  <a:srgbClr val="1D1C16"/>
                </a:solidFill>
                <a:latin typeface="Nirmala UI"/>
              </a:defRPr>
            </a:pPr>
            <a:r>
              <a:t>•  फसल डॉक्टर: पत्ती फोटो → बीमारी अंदाज़ा + इलाज + वीडियो + मौसम/ज़ोन।</a:t>
            </a:r>
          </a:p>
          <a:p>
            <a:pPr>
              <a:spcAft>
                <a:spcPts val="1000"/>
              </a:spcAft>
              <a:defRPr sz="2200">
                <a:solidFill>
                  <a:srgbClr val="1D1C16"/>
                </a:solidFill>
                <a:latin typeface="Nirmala UI"/>
              </a:defRPr>
            </a:pPr>
            <a:r>
              <a:t>•  [चित्र लगाएँ: flow diagram — हाथ से बना भी चलेगा]।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217920"/>
            <a:ext cx="10881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14942"/>
                </a:solidFill>
                <a:latin typeface="Nirmala UI"/>
              </a:defRPr>
            </a:pPr>
            <a:r>
              <a:t>SWARN-BEEJ • SEVA FIRST RYIC 2026 • Local REG-001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F3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3D24"/>
                </a:solidFill>
                <a:latin typeface="Nirmala UI"/>
              </a:defRPr>
            </a:pPr>
            <a:r>
              <a:t>10. लागत-लाभ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D1C16"/>
                </a:solidFill>
                <a:latin typeface="Nirmala UI"/>
              </a:defRPr>
            </a:pPr>
            <a:r>
              <a:t>•  किसान के लिए मुफ़्त; होस्टिंग &lt; ₹2,000।</a:t>
            </a:r>
          </a:p>
          <a:p>
            <a:pPr>
              <a:spcAft>
                <a:spcPts val="1000"/>
              </a:spcAft>
              <a:defRPr sz="2200">
                <a:solidFill>
                  <a:srgbClr val="1D1C16"/>
                </a:solidFill>
                <a:latin typeface="Nirmala UI"/>
              </a:defRPr>
            </a:pPr>
            <a:r>
              <a:t>•  1 एकड़ में ≈ ₹12,000 का नुकसान बचता है (ग्वार 7–8 क्विंटल @₹30k, 40% हानि)।</a:t>
            </a:r>
          </a:p>
          <a:p>
            <a:pPr>
              <a:spcAft>
                <a:spcPts val="1000"/>
              </a:spcAft>
              <a:defRPr sz="2200">
                <a:solidFill>
                  <a:srgbClr val="1D1C16"/>
                </a:solidFill>
                <a:latin typeface="Nirmala UI"/>
              </a:defRPr>
            </a:pPr>
            <a:r>
              <a:t>•  स्केल: पंजाब-हरियाणा → हिमाचल सेब, उत्तराखंड मसाला बीज (वही इंजन)।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217920"/>
            <a:ext cx="10881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14942"/>
                </a:solidFill>
                <a:latin typeface="Nirmala UI"/>
              </a:defRPr>
            </a:pPr>
            <a:r>
              <a:t>SWARN-BEEJ • SEVA FIRST RYIC 2026 • Local REG-001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F3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3D24"/>
                </a:solidFill>
                <a:latin typeface="Nirmala UI"/>
              </a:defRPr>
            </a:pPr>
            <a:r>
              <a:t>11. 75-दिन योजना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D1C16"/>
                </a:solidFill>
                <a:latin typeface="Nirmala UI"/>
              </a:defRPr>
            </a:pPr>
            <a:r>
              <a:t>•  सप्ताह 1: सर्वे + PPT (Screen-1) + 15 दुकान/पैकेट साक्ष्य।</a:t>
            </a:r>
          </a:p>
          <a:p>
            <a:pPr>
              <a:spcAft>
                <a:spcPts val="1000"/>
              </a:spcAft>
              <a:defRPr sz="2200">
                <a:solidFill>
                  <a:srgbClr val="1D1C16"/>
                </a:solidFill>
                <a:latin typeface="Nirmala UI"/>
              </a:defRPr>
            </a:pPr>
            <a:r>
              <a:t>•  सप्ताह 2: MVP (3 फीचर) + 60-सैंपल accuracy जाँच।</a:t>
            </a:r>
          </a:p>
          <a:p>
            <a:pPr>
              <a:spcAft>
                <a:spcPts val="1000"/>
              </a:spcAft>
              <a:defRPr sz="2200">
                <a:solidFill>
                  <a:srgbClr val="1D1C16"/>
                </a:solidFill>
                <a:latin typeface="Nirmala UI"/>
              </a:defRPr>
            </a:pPr>
            <a:r>
              <a:t>•  सप्ताह 3: 15-किसान फील्ड टेस्ट + 5-मिनट वीडियो।</a:t>
            </a:r>
          </a:p>
          <a:p>
            <a:pPr>
              <a:spcAft>
                <a:spcPts val="1000"/>
              </a:spcAft>
              <a:defRPr sz="2200">
                <a:solidFill>
                  <a:srgbClr val="1D1C16"/>
                </a:solidFill>
                <a:latin typeface="Nirmala UI"/>
              </a:defRPr>
            </a:pPr>
            <a:r>
              <a:t>•  सप्ताह 4: सुधार + अंतिम रिपोर्ट + जूरी डेमो।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217920"/>
            <a:ext cx="10881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14942"/>
                </a:solidFill>
                <a:latin typeface="Nirmala UI"/>
              </a:defRPr>
            </a:pPr>
            <a:r>
              <a:t>SWARN-BEEJ • SEVA FIRST RYIC 2026 • Local REG-001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F3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3D24"/>
                </a:solidFill>
                <a:latin typeface="Nirmala UI"/>
              </a:defRPr>
            </a:pPr>
            <a:r>
              <a:t>12. टीम + ज़रूरतें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D1C16"/>
                </a:solidFill>
                <a:latin typeface="Nirmala UI"/>
              </a:defRPr>
            </a:pPr>
            <a:r>
              <a:t>•  Solo + 1 mentor (प्रोफ़ेसर/कृषि अधिकारी पत्र — [पत्र लगाएँ])।</a:t>
            </a:r>
          </a:p>
          <a:p>
            <a:pPr>
              <a:spcAft>
                <a:spcPts val="1000"/>
              </a:spcAft>
              <a:defRPr sz="2200">
                <a:solidFill>
                  <a:srgbClr val="1D1C16"/>
                </a:solidFill>
                <a:latin typeface="Nirmala UI"/>
              </a:defRPr>
            </a:pPr>
            <a:r>
              <a:t>•  चाहिए: फोन, दुकान अनुमति, SATHI सूची अपडेट, 60 पैकेट टेस्ट-सेट।</a:t>
            </a:r>
          </a:p>
          <a:p>
            <a:pPr>
              <a:spcAft>
                <a:spcPts val="1000"/>
              </a:spcAft>
              <a:defRPr sz="2200">
                <a:solidFill>
                  <a:srgbClr val="1D1C16"/>
                </a:solidFill>
                <a:latin typeface="Nirmala UI"/>
              </a:defRPr>
            </a:pPr>
            <a:r>
              <a:t>•  Entry TRL-2 → लक्ष्य TRL-6 (डेमो-सेट 100%, फील्ड लक्ष्य 85%)।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217920"/>
            <a:ext cx="10881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14942"/>
                </a:solidFill>
                <a:latin typeface="Nirmala UI"/>
              </a:defRPr>
            </a:pPr>
            <a:r>
              <a:t>SWARN-BEEJ • SEVA FIRST RYIC 2026 • Local REG-001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